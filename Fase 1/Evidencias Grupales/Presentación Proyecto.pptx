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Zen Dots" charset="1" panose="00000000000000000000"/>
      <p:regular r:id="rId13"/>
    </p:embeddedFont>
    <p:embeddedFont>
      <p:font typeface="Poppins Bold" charset="1" panose="00000800000000000000"/>
      <p:regular r:id="rId14"/>
    </p:embeddedFont>
    <p:embeddedFont>
      <p:font typeface="Poppins Heavy" charset="1" panose="00000A00000000000000"/>
      <p:regular r:id="rId15"/>
    </p:embeddedFont>
    <p:embeddedFont>
      <p:font typeface="Poppins" charset="1" panose="000005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096" t="0" r="-14096" b="-5183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19FF">
                <a:alpha val="2078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341031" y="3618367"/>
            <a:ext cx="11605938" cy="158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13"/>
              </a:lnSpc>
            </a:pPr>
            <a:r>
              <a:rPr lang="en-US" sz="12487">
                <a:solidFill>
                  <a:srgbClr val="FFFFFF"/>
                </a:solidFill>
                <a:latin typeface="Zen Dots"/>
                <a:ea typeface="Zen Dots"/>
                <a:cs typeface="Zen Dots"/>
                <a:sym typeface="Zen Dots"/>
              </a:rPr>
              <a:t>ALERGIC-IA</a:t>
            </a:r>
          </a:p>
        </p:txBody>
      </p:sp>
      <p:sp>
        <p:nvSpPr>
          <p:cNvPr name="AutoShape 7" id="7"/>
          <p:cNvSpPr/>
          <p:nvPr/>
        </p:nvSpPr>
        <p:spPr>
          <a:xfrm>
            <a:off x="1028683" y="8732575"/>
            <a:ext cx="16230600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5513352" y="667880"/>
            <a:ext cx="1919429" cy="566532"/>
            <a:chOff x="0" y="0"/>
            <a:chExt cx="505529" cy="1492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624599" y="731452"/>
            <a:ext cx="1662550" cy="728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Javier Peralta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29929" y="731452"/>
            <a:ext cx="2224975" cy="728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Maximiliano Muñoz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020F8D"/>
                </a:solidFill>
                <a:latin typeface="Poppins Bold"/>
                <a:ea typeface="Poppins Bold"/>
                <a:cs typeface="Poppins Bold"/>
                <a:sym typeface="Poppins Bold"/>
              </a:rPr>
              <a:t>Page 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5218" y="552992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b="true" sz="2206" spc="4">
                <a:solidFill>
                  <a:srgbClr val="FFFFFF"/>
                </a:solidFill>
                <a:latin typeface="Poppins Heavy"/>
                <a:ea typeface="Poppins Heavy"/>
                <a:cs typeface="Poppins Heavy"/>
                <a:sym typeface="Poppins Heavy"/>
              </a:rPr>
              <a:t>PTY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5218" y="874053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sz="2206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004D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60873" y="9046346"/>
            <a:ext cx="4747340" cy="45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Equipo 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28202" y="9061735"/>
            <a:ext cx="1274721" cy="45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090730" y="7975055"/>
            <a:ext cx="2149665" cy="728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1"/>
              </a:lnSpc>
              <a:spcBef>
                <a:spcPct val="0"/>
              </a:spcBef>
            </a:pPr>
            <a:r>
              <a:rPr lang="en-US" b="true" sz="2051" spc="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Juan Hernandez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640">
                <a:alpha val="100000"/>
              </a:srgbClr>
            </a:gs>
            <a:gs pos="100000">
              <a:srgbClr val="02007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13352" y="644363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93774" y="2856807"/>
            <a:ext cx="3086100" cy="5446038"/>
            <a:chOff x="0" y="0"/>
            <a:chExt cx="812800" cy="14343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434347"/>
            </a:xfrm>
            <a:custGeom>
              <a:avLst/>
              <a:gdLst/>
              <a:ahLst/>
              <a:cxnLst/>
              <a:rect r="r" b="b" t="t" l="l"/>
              <a:pathLst>
                <a:path h="143434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34347"/>
                  </a:lnTo>
                  <a:lnTo>
                    <a:pt x="0" y="1434347"/>
                  </a:lnTo>
                  <a:close/>
                </a:path>
              </a:pathLst>
            </a:custGeom>
            <a:gradFill rotWithShape="true">
              <a:gsLst>
                <a:gs pos="0">
                  <a:srgbClr val="00E8FF">
                    <a:alpha val="100000"/>
                  </a:srgbClr>
                </a:gs>
                <a:gs pos="100000">
                  <a:srgbClr val="0076E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812800" cy="14914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82058" y="2392921"/>
            <a:ext cx="5023431" cy="5909924"/>
            <a:chOff x="0" y="0"/>
            <a:chExt cx="778261" cy="91560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78261" cy="915602"/>
            </a:xfrm>
            <a:custGeom>
              <a:avLst/>
              <a:gdLst/>
              <a:ahLst/>
              <a:cxnLst/>
              <a:rect r="r" b="b" t="t" l="l"/>
              <a:pathLst>
                <a:path h="915602" w="778261">
                  <a:moveTo>
                    <a:pt x="0" y="0"/>
                  </a:moveTo>
                  <a:lnTo>
                    <a:pt x="778261" y="0"/>
                  </a:lnTo>
                  <a:lnTo>
                    <a:pt x="778261" y="915602"/>
                  </a:lnTo>
                  <a:lnTo>
                    <a:pt x="0" y="915602"/>
                  </a:lnTo>
                  <a:close/>
                </a:path>
              </a:pathLst>
            </a:custGeom>
            <a:blipFill>
              <a:blip r:embed="rId2"/>
              <a:stretch>
                <a:fillRect l="-43206" t="0" r="-43206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8831280">
            <a:off x="-2149749" y="2740944"/>
            <a:ext cx="4001809" cy="4001809"/>
          </a:xfrm>
          <a:custGeom>
            <a:avLst/>
            <a:gdLst/>
            <a:ahLst/>
            <a:cxnLst/>
            <a:rect r="r" b="b" t="t" l="l"/>
            <a:pathLst>
              <a:path h="4001809" w="4001809">
                <a:moveTo>
                  <a:pt x="0" y="0"/>
                </a:moveTo>
                <a:lnTo>
                  <a:pt x="4001809" y="0"/>
                </a:lnTo>
                <a:lnTo>
                  <a:pt x="4001809" y="4001809"/>
                </a:lnTo>
                <a:lnTo>
                  <a:pt x="0" y="40018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-1886788">
            <a:off x="16349986" y="3775189"/>
            <a:ext cx="4464076" cy="4464076"/>
          </a:xfrm>
          <a:custGeom>
            <a:avLst/>
            <a:gdLst/>
            <a:ahLst/>
            <a:cxnLst/>
            <a:rect r="r" b="b" t="t" l="l"/>
            <a:pathLst>
              <a:path h="4464076" w="4464076">
                <a:moveTo>
                  <a:pt x="0" y="0"/>
                </a:moveTo>
                <a:lnTo>
                  <a:pt x="4464076" y="0"/>
                </a:lnTo>
                <a:lnTo>
                  <a:pt x="4464076" y="4464076"/>
                </a:lnTo>
                <a:lnTo>
                  <a:pt x="0" y="44640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327339" y="1805630"/>
            <a:ext cx="8216843" cy="679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9"/>
              </a:lnSpc>
            </a:pPr>
            <a:r>
              <a:rPr lang="en-US" sz="5365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DEFINICION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762422" y="712045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020F8D"/>
                </a:solidFill>
                <a:latin typeface="Poppins Bold"/>
                <a:ea typeface="Poppins Bold"/>
                <a:cs typeface="Poppins Bold"/>
                <a:sym typeface="Poppins Bold"/>
              </a:rPr>
              <a:t>Page 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5218" y="529475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b="true" sz="2206" spc="4">
                <a:solidFill>
                  <a:srgbClr val="FFFFFF"/>
                </a:solidFill>
                <a:latin typeface="Poppins Heavy"/>
                <a:ea typeface="Poppins Heavy"/>
                <a:cs typeface="Poppins Heavy"/>
                <a:sym typeface="Poppins Heavy"/>
              </a:rPr>
              <a:t>PTY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55218" y="850536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sz="2206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004D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398454" y="3532663"/>
            <a:ext cx="8074613" cy="2470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3"/>
              </a:lnSpc>
            </a:pPr>
            <a:r>
              <a:rPr lang="en-US" sz="2100" spc="-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Aplicación móvil para ay</a:t>
            </a:r>
            <a:r>
              <a:rPr lang="en-US" sz="2100" spc="-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udar a personas que sufran de alergias alimenticias, indicando que alimentos pueden desencadenar que reaccion alergica, indicando también qué opción dis</a:t>
            </a:r>
            <a:r>
              <a:rPr lang="en-US" sz="2100" spc="-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ponible tienen que sea similar al alimento buscado, pero sin el alergeno obviamente, además de indicar en que lugares de puede adquirir el alimento deseado.</a:t>
            </a:r>
          </a:p>
          <a:p>
            <a:pPr algn="just">
              <a:lnSpc>
                <a:spcPts val="2793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20070">
                <a:alpha val="100000"/>
              </a:srgbClr>
            </a:gs>
            <a:gs pos="100000">
              <a:srgbClr val="00064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13352" y="667880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0604896" y="2933753"/>
            <a:ext cx="3086100" cy="5269946"/>
            <a:chOff x="0" y="0"/>
            <a:chExt cx="812800" cy="138796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1387969"/>
            </a:xfrm>
            <a:custGeom>
              <a:avLst/>
              <a:gdLst/>
              <a:ahLst/>
              <a:cxnLst/>
              <a:rect r="r" b="b" t="t" l="l"/>
              <a:pathLst>
                <a:path h="138796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387969"/>
                  </a:lnTo>
                  <a:lnTo>
                    <a:pt x="0" y="1387969"/>
                  </a:lnTo>
                  <a:close/>
                </a:path>
              </a:pathLst>
            </a:custGeom>
            <a:gradFill rotWithShape="true">
              <a:gsLst>
                <a:gs pos="0">
                  <a:srgbClr val="00E8FF">
                    <a:alpha val="100000"/>
                  </a:srgbClr>
                </a:gs>
                <a:gs pos="100000">
                  <a:srgbClr val="0076E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812800" cy="14451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153650" y="2709310"/>
            <a:ext cx="6934340" cy="5718833"/>
            <a:chOff x="0" y="0"/>
            <a:chExt cx="1074311" cy="88599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4311" cy="885997"/>
            </a:xfrm>
            <a:custGeom>
              <a:avLst/>
              <a:gdLst/>
              <a:ahLst/>
              <a:cxnLst/>
              <a:rect r="r" b="b" t="t" l="l"/>
              <a:pathLst>
                <a:path h="885997" w="1074311">
                  <a:moveTo>
                    <a:pt x="0" y="0"/>
                  </a:moveTo>
                  <a:lnTo>
                    <a:pt x="1074311" y="0"/>
                  </a:lnTo>
                  <a:lnTo>
                    <a:pt x="1074311" y="885997"/>
                  </a:lnTo>
                  <a:lnTo>
                    <a:pt x="0" y="885997"/>
                  </a:lnTo>
                  <a:close/>
                </a:path>
              </a:pathLst>
            </a:custGeom>
            <a:blipFill>
              <a:blip r:embed="rId2"/>
              <a:stretch>
                <a:fillRect l="-25598" t="0" r="-25598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-3306817" y="1295381"/>
            <a:ext cx="4335517" cy="4114800"/>
          </a:xfrm>
          <a:custGeom>
            <a:avLst/>
            <a:gdLst/>
            <a:ahLst/>
            <a:cxnLst/>
            <a:rect r="r" b="b" t="t" l="l"/>
            <a:pathLst>
              <a:path h="4114800" w="4335517">
                <a:moveTo>
                  <a:pt x="0" y="0"/>
                </a:moveTo>
                <a:lnTo>
                  <a:pt x="4335517" y="0"/>
                </a:lnTo>
                <a:lnTo>
                  <a:pt x="43355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020F8D"/>
                </a:solidFill>
                <a:latin typeface="Poppins Bold"/>
                <a:ea typeface="Poppins Bold"/>
                <a:cs typeface="Poppins Bold"/>
                <a:sym typeface="Poppins Bold"/>
              </a:rPr>
              <a:t>Page 03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55218" y="552992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b="true" sz="2206" spc="4">
                <a:solidFill>
                  <a:srgbClr val="FFFFFF"/>
                </a:solidFill>
                <a:latin typeface="Poppins Heavy"/>
                <a:ea typeface="Poppins Heavy"/>
                <a:cs typeface="Poppins Heavy"/>
                <a:sym typeface="Poppins Heavy"/>
              </a:rPr>
              <a:t>PTY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5218" y="874053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sz="2206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004D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3434" y="2842660"/>
            <a:ext cx="8188898" cy="679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9"/>
              </a:lnSpc>
            </a:pPr>
            <a:r>
              <a:rPr lang="en-US" sz="5365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PROBLEMATICA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55218" y="4607056"/>
            <a:ext cx="9200116" cy="2103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08"/>
              </a:lnSpc>
            </a:pPr>
            <a:r>
              <a:rPr lang="en-US" sz="2487" spc="-6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Existe mucha gente que no sabe si algun alimento que auieren comprar contiene algun ente al que son alergicos, ademas. A dia de hoy aun existe gente que por el solo hecho de ser alergica a un alimento o algun componente de uno se mantiene lo mas alejado de este.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640">
                <a:alpha val="100000"/>
              </a:srgbClr>
            </a:gs>
            <a:gs pos="100000">
              <a:srgbClr val="02007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13352" y="667880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396129" y="2740640"/>
            <a:ext cx="3086100" cy="5269946"/>
            <a:chOff x="0" y="0"/>
            <a:chExt cx="812800" cy="13879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387969"/>
            </a:xfrm>
            <a:custGeom>
              <a:avLst/>
              <a:gdLst/>
              <a:ahLst/>
              <a:cxnLst/>
              <a:rect r="r" b="b" t="t" l="l"/>
              <a:pathLst>
                <a:path h="1387969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387969"/>
                  </a:lnTo>
                  <a:lnTo>
                    <a:pt x="0" y="1387969"/>
                  </a:lnTo>
                  <a:close/>
                </a:path>
              </a:pathLst>
            </a:custGeom>
            <a:gradFill rotWithShape="true">
              <a:gsLst>
                <a:gs pos="0">
                  <a:srgbClr val="00E8FF">
                    <a:alpha val="100000"/>
                  </a:srgbClr>
                </a:gs>
                <a:gs pos="100000">
                  <a:srgbClr val="0076E4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812800" cy="14451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815206" y="2402329"/>
            <a:ext cx="6145566" cy="5832701"/>
          </a:xfrm>
          <a:custGeom>
            <a:avLst/>
            <a:gdLst/>
            <a:ahLst/>
            <a:cxnLst/>
            <a:rect r="r" b="b" t="t" l="l"/>
            <a:pathLst>
              <a:path h="5832701" w="6145566">
                <a:moveTo>
                  <a:pt x="0" y="0"/>
                </a:moveTo>
                <a:lnTo>
                  <a:pt x="6145567" y="0"/>
                </a:lnTo>
                <a:lnTo>
                  <a:pt x="6145567" y="5832701"/>
                </a:lnTo>
                <a:lnTo>
                  <a:pt x="0" y="5832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0815206" y="2516197"/>
            <a:ext cx="6934340" cy="5718833"/>
            <a:chOff x="0" y="0"/>
            <a:chExt cx="1074311" cy="8859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4311" cy="885997"/>
            </a:xfrm>
            <a:custGeom>
              <a:avLst/>
              <a:gdLst/>
              <a:ahLst/>
              <a:cxnLst/>
              <a:rect r="r" b="b" t="t" l="l"/>
              <a:pathLst>
                <a:path h="885997" w="1074311">
                  <a:moveTo>
                    <a:pt x="0" y="0"/>
                  </a:moveTo>
                  <a:lnTo>
                    <a:pt x="1074311" y="0"/>
                  </a:lnTo>
                  <a:lnTo>
                    <a:pt x="1074311" y="885997"/>
                  </a:lnTo>
                  <a:lnTo>
                    <a:pt x="0" y="885997"/>
                  </a:lnTo>
                  <a:close/>
                </a:path>
              </a:pathLst>
            </a:custGeom>
            <a:blipFill>
              <a:blip r:embed="rId4"/>
              <a:stretch>
                <a:fillRect l="0" t="-1735" r="0" b="-1735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020F8D"/>
                </a:solidFill>
                <a:latin typeface="Poppins Bold"/>
                <a:ea typeface="Poppins Bold"/>
                <a:cs typeface="Poppins Bold"/>
                <a:sym typeface="Poppins Bold"/>
              </a:rPr>
              <a:t>Page 04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55218" y="552992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b="true" sz="2206" spc="4">
                <a:solidFill>
                  <a:srgbClr val="FFFFFF"/>
                </a:solidFill>
                <a:latin typeface="Poppins Heavy"/>
                <a:ea typeface="Poppins Heavy"/>
                <a:cs typeface="Poppins Heavy"/>
                <a:sym typeface="Poppins Heavy"/>
              </a:rPr>
              <a:t>PTY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5218" y="874053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sz="2206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004D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8423" y="2647618"/>
            <a:ext cx="7647473" cy="679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9"/>
              </a:lnSpc>
            </a:pPr>
            <a:r>
              <a:rPr lang="en-US" sz="5365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OBJETIVOS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4536576"/>
            <a:ext cx="7913002" cy="3123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94"/>
              </a:lnSpc>
            </a:pPr>
            <a:r>
              <a:rPr lang="en-US" sz="2326" spc="-6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Desarrollar una aplicacion movil que permita a personas que desconocen si algun producto tiene algo a lo que son alergicos escanear el producto y que este desplegue una lista de posibles reacciones alergicas a causa de sus ingredientes o el producto en si. Tambien otorgar informacion inmediata sobre alternativas libres de alergenos para que dicha persona pueda disfrutar de un producto similar sin preocupaciones.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640">
                <a:alpha val="100000"/>
              </a:srgbClr>
            </a:gs>
            <a:gs pos="100000">
              <a:srgbClr val="02007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13352" y="667880"/>
            <a:ext cx="1919429" cy="566532"/>
            <a:chOff x="0" y="0"/>
            <a:chExt cx="505529" cy="149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020F8D"/>
                </a:solidFill>
                <a:latin typeface="Poppins Bold"/>
                <a:ea typeface="Poppins Bold"/>
                <a:cs typeface="Poppins Bold"/>
                <a:sym typeface="Poppins Bold"/>
              </a:rPr>
              <a:t>Page 05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08898" y="2623865"/>
            <a:ext cx="8014138" cy="5057141"/>
            <a:chOff x="0" y="0"/>
            <a:chExt cx="1380597" cy="8711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80597" cy="871194"/>
            </a:xfrm>
            <a:custGeom>
              <a:avLst/>
              <a:gdLst/>
              <a:ahLst/>
              <a:cxnLst/>
              <a:rect r="r" b="b" t="t" l="l"/>
              <a:pathLst>
                <a:path h="871194" w="1380597">
                  <a:moveTo>
                    <a:pt x="0" y="0"/>
                  </a:moveTo>
                  <a:lnTo>
                    <a:pt x="1380597" y="0"/>
                  </a:lnTo>
                  <a:lnTo>
                    <a:pt x="1380597" y="871194"/>
                  </a:lnTo>
                  <a:lnTo>
                    <a:pt x="0" y="871194"/>
                  </a:lnTo>
                  <a:close/>
                </a:path>
              </a:pathLst>
            </a:custGeom>
            <a:blipFill>
              <a:blip r:embed="rId2"/>
              <a:stretch>
                <a:fillRect l="0" t="-6760" r="0" b="-6760"/>
              </a:stretch>
            </a:blipFill>
          </p:spPr>
        </p:sp>
      </p:grpSp>
      <p:sp>
        <p:nvSpPr>
          <p:cNvPr name="AutoShape 8" id="8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9407385" y="2011280"/>
            <a:ext cx="7263872" cy="428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6"/>
              </a:lnSpc>
            </a:pPr>
            <a:r>
              <a:rPr lang="en-US" sz="3318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ALCANCES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3185288">
            <a:off x="15595742" y="262509"/>
            <a:ext cx="4630504" cy="4630504"/>
          </a:xfrm>
          <a:custGeom>
            <a:avLst/>
            <a:gdLst/>
            <a:ahLst/>
            <a:cxnLst/>
            <a:rect r="r" b="b" t="t" l="l"/>
            <a:pathLst>
              <a:path h="4630504" w="4630504">
                <a:moveTo>
                  <a:pt x="0" y="0"/>
                </a:moveTo>
                <a:lnTo>
                  <a:pt x="4630504" y="0"/>
                </a:lnTo>
                <a:lnTo>
                  <a:pt x="4630504" y="4630503"/>
                </a:lnTo>
                <a:lnTo>
                  <a:pt x="0" y="46305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55218" y="552992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b="true" sz="2206" spc="4">
                <a:solidFill>
                  <a:srgbClr val="FFFFFF"/>
                </a:solidFill>
                <a:latin typeface="Poppins Heavy"/>
                <a:ea typeface="Poppins Heavy"/>
                <a:cs typeface="Poppins Heavy"/>
                <a:sym typeface="Poppins Heavy"/>
              </a:rPr>
              <a:t>PTY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5218" y="874053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sz="2206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004D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94931" y="3862997"/>
            <a:ext cx="8288782" cy="2999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79"/>
              </a:lnSpc>
            </a:pPr>
            <a:r>
              <a:rPr lang="en-US" sz="2540" spc="-7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proyecto solo dara informacion acercca de que alimentos tienen que alergenos y si las alergias que el usuario declaro tener en su perfil pueden ser desencadenadas por x alimento, tambien se le informara donde comprar alternativas. Hasta ahora el proyecto esta pensado en ser orientado a los alimentos disponibles en chile.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20070">
                    <a:alpha val="67000"/>
                  </a:srgbClr>
                </a:gs>
                <a:gs pos="100000">
                  <a:srgbClr val="000640">
                    <a:alpha val="67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513352" y="667880"/>
            <a:ext cx="1919429" cy="566532"/>
            <a:chOff x="0" y="0"/>
            <a:chExt cx="505529" cy="1492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1028683" y="9272587"/>
            <a:ext cx="16230600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855218" y="3913701"/>
            <a:ext cx="9877583" cy="4605361"/>
            <a:chOff x="0" y="0"/>
            <a:chExt cx="2601503" cy="12129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601503" cy="1212935"/>
            </a:xfrm>
            <a:custGeom>
              <a:avLst/>
              <a:gdLst/>
              <a:ahLst/>
              <a:cxnLst/>
              <a:rect r="r" b="b" t="t" l="l"/>
              <a:pathLst>
                <a:path h="1212935" w="2601503">
                  <a:moveTo>
                    <a:pt x="0" y="0"/>
                  </a:moveTo>
                  <a:lnTo>
                    <a:pt x="2601503" y="0"/>
                  </a:lnTo>
                  <a:lnTo>
                    <a:pt x="2601503" y="1212935"/>
                  </a:lnTo>
                  <a:lnTo>
                    <a:pt x="0" y="1212935"/>
                  </a:lnTo>
                  <a:close/>
                </a:path>
              </a:pathLst>
            </a:custGeom>
            <a:solidFill>
              <a:srgbClr val="000000">
                <a:alpha val="24706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601503" cy="1270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8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732801" y="3876179"/>
            <a:ext cx="6879858" cy="4589270"/>
          </a:xfrm>
          <a:custGeom>
            <a:avLst/>
            <a:gdLst/>
            <a:ahLst/>
            <a:cxnLst/>
            <a:rect r="r" b="b" t="t" l="l"/>
            <a:pathLst>
              <a:path h="4589270" w="6879858">
                <a:moveTo>
                  <a:pt x="0" y="0"/>
                </a:moveTo>
                <a:lnTo>
                  <a:pt x="6879859" y="0"/>
                </a:lnTo>
                <a:lnTo>
                  <a:pt x="6879859" y="4589270"/>
                </a:lnTo>
                <a:lnTo>
                  <a:pt x="0" y="45892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020F8D"/>
                </a:solidFill>
                <a:latin typeface="Poppins Bold"/>
                <a:ea typeface="Poppins Bold"/>
                <a:cs typeface="Poppins Bold"/>
                <a:sym typeface="Poppins Bold"/>
              </a:rPr>
              <a:t>Page 06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5218" y="552992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b="true" sz="2206" spc="4">
                <a:solidFill>
                  <a:srgbClr val="FFFFFF"/>
                </a:solidFill>
                <a:latin typeface="Poppins Heavy"/>
                <a:ea typeface="Poppins Heavy"/>
                <a:cs typeface="Poppins Heavy"/>
                <a:sym typeface="Poppins Heavy"/>
              </a:rPr>
              <a:t>PTY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55218" y="874053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sz="2206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004D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156756" y="881092"/>
            <a:ext cx="12065990" cy="944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4"/>
              </a:lnSpc>
            </a:pPr>
            <a:r>
              <a:rPr lang="en-US" sz="7391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HITOS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683" y="5417806"/>
            <a:ext cx="9489118" cy="1458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5"/>
              </a:lnSpc>
            </a:pPr>
            <a:r>
              <a:rPr lang="en-US" sz="2154" spc="-6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Hito 1: Definicion del Proyecto</a:t>
            </a:r>
          </a:p>
          <a:p>
            <a:pPr algn="ctr">
              <a:lnSpc>
                <a:spcPts val="2865"/>
              </a:lnSpc>
            </a:pPr>
            <a:r>
              <a:rPr lang="en-US" sz="2154" spc="-6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Hito 2: Diseño del proyecto</a:t>
            </a:r>
          </a:p>
          <a:p>
            <a:pPr algn="ctr">
              <a:lnSpc>
                <a:spcPts val="2865"/>
              </a:lnSpc>
            </a:pPr>
            <a:r>
              <a:rPr lang="en-US" sz="2154" spc="-6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Hito 3: Desarrollo del proyecto</a:t>
            </a:r>
          </a:p>
          <a:p>
            <a:pPr algn="ctr">
              <a:lnSpc>
                <a:spcPts val="2865"/>
              </a:lnSpc>
            </a:pPr>
            <a:r>
              <a:rPr lang="en-US" sz="2154" spc="-6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Hito 4 Finalizacion del proyecto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20070">
                    <a:alpha val="24000"/>
                  </a:srgbClr>
                </a:gs>
                <a:gs pos="100000">
                  <a:srgbClr val="000640">
                    <a:alpha val="24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513352" y="667880"/>
            <a:ext cx="1919429" cy="566532"/>
            <a:chOff x="0" y="0"/>
            <a:chExt cx="505529" cy="1492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00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505529" cy="206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1028683" y="8732575"/>
            <a:ext cx="16230600" cy="1905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028683" y="5584046"/>
            <a:ext cx="16404099" cy="3148529"/>
            <a:chOff x="0" y="0"/>
            <a:chExt cx="4320421" cy="8292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20421" cy="829242"/>
            </a:xfrm>
            <a:custGeom>
              <a:avLst/>
              <a:gdLst/>
              <a:ahLst/>
              <a:cxnLst/>
              <a:rect r="r" b="b" t="t" l="l"/>
              <a:pathLst>
                <a:path h="829242" w="4320421">
                  <a:moveTo>
                    <a:pt x="0" y="0"/>
                  </a:moveTo>
                  <a:lnTo>
                    <a:pt x="4320421" y="0"/>
                  </a:lnTo>
                  <a:lnTo>
                    <a:pt x="4320421" y="829242"/>
                  </a:lnTo>
                  <a:lnTo>
                    <a:pt x="0" y="829242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4320421" cy="8863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88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5762422" y="735562"/>
            <a:ext cx="142129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 spc="3">
                <a:solidFill>
                  <a:srgbClr val="020F8D"/>
                </a:solidFill>
                <a:latin typeface="Poppins Bold"/>
                <a:ea typeface="Poppins Bold"/>
                <a:cs typeface="Poppins Bold"/>
                <a:sym typeface="Poppins Bold"/>
              </a:rPr>
              <a:t>Page 07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5218" y="552992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b="true" sz="2206" spc="4">
                <a:solidFill>
                  <a:srgbClr val="FFFFFF"/>
                </a:solidFill>
                <a:latin typeface="Poppins Heavy"/>
                <a:ea typeface="Poppins Heavy"/>
                <a:cs typeface="Poppins Heavy"/>
                <a:sym typeface="Poppins Heavy"/>
              </a:rPr>
              <a:t>PTY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5218" y="874053"/>
            <a:ext cx="1761862" cy="39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8"/>
              </a:lnSpc>
              <a:spcBef>
                <a:spcPct val="0"/>
              </a:spcBef>
            </a:pPr>
            <a:r>
              <a:rPr lang="en-US" sz="2206" spc="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004D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29397" y="2148643"/>
            <a:ext cx="14079189" cy="1044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65"/>
              </a:lnSpc>
            </a:pPr>
            <a:r>
              <a:rPr lang="en-US" sz="8242">
                <a:solidFill>
                  <a:srgbClr val="00FFFF"/>
                </a:solidFill>
                <a:latin typeface="Zen Dots"/>
                <a:ea typeface="Zen Dots"/>
                <a:cs typeface="Zen Dots"/>
                <a:sym typeface="Zen Dots"/>
              </a:rPr>
              <a:t>CONCLUSION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104595" y="5989548"/>
            <a:ext cx="12078809" cy="1905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8"/>
              </a:lnSpc>
            </a:pPr>
            <a:r>
              <a:rPr lang="en-US" sz="2299" spc="-6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 conclusión, nuestro proyecto busca entregar una solución práctica para personas con alergias alimentarias, facilitando la identificación de posibles alérgenos y ofreciendo alternativas seguras. A través del desarrollo de esta aplicación móvil, esperamos mejorar la experiencia de compra y entregar información rápida y útil para tomar decisiones con mayor seguridad.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60873" y="9046346"/>
            <a:ext cx="4747340" cy="45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Equipo 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528202" y="9061735"/>
            <a:ext cx="1274721" cy="45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1"/>
              </a:lnSpc>
            </a:pPr>
            <a:r>
              <a:rPr lang="en-US" sz="24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DAHPWCpI-AI</dc:identifier>
  <dcterms:modified xsi:type="dcterms:W3CDTF">2011-08-01T06:04:30Z</dcterms:modified>
  <cp:revision>1</cp:revision>
  <dc:title>Blue Modern Data Analysis Presentation</dc:title>
</cp:coreProperties>
</file>